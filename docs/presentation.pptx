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Space Grotesk Light"/>
      <p:regular r:id="rId13"/>
      <p:bold r:id="rId14"/>
    </p:embeddedFont>
    <p:embeddedFont>
      <p:font typeface="Space Grotesk Medium"/>
      <p:regular r:id="rId15"/>
      <p:bold r:id="rId16"/>
    </p:embeddedFont>
    <p:embeddedFont>
      <p:font typeface="Space Grotesk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paceGroteskLight-regular.fntdata"/><Relationship Id="rId12" Type="http://schemas.openxmlformats.org/officeDocument/2006/relationships/slide" Target="slides/slide7.xml"/><Relationship Id="rId15" Type="http://schemas.openxmlformats.org/officeDocument/2006/relationships/font" Target="fonts/SpaceGroteskMedium-regular.fntdata"/><Relationship Id="rId14" Type="http://schemas.openxmlformats.org/officeDocument/2006/relationships/font" Target="fonts/SpaceGroteskLight-bold.fntdata"/><Relationship Id="rId17" Type="http://schemas.openxmlformats.org/officeDocument/2006/relationships/font" Target="fonts/SpaceGrotesk-regular.fntdata"/><Relationship Id="rId16" Type="http://schemas.openxmlformats.org/officeDocument/2006/relationships/font" Target="fonts/SpaceGroteskMedium-bold.fntdata"/><Relationship Id="rId18" Type="http://schemas.openxmlformats.org/officeDocument/2006/relationships/font" Target="fonts/SpaceGrotes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058c5e1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058c5e1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58c5e1a2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058c5e1a2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058c5e1a2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058c5e1a2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058c5e1a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f058c5e1a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058c5e1a2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058c5e1a2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058c5e1a2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058c5e1a2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058c5e1a2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058c5e1a2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1" name="Google Shape;61;p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" name="Google Shape;78;p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05" name="Google Shape;105;p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4" name="Google Shape;124;p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8" name="Google Shape;128;p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2" name="Google Shape;182;p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3" name="Google Shape;183;p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7" name="Google Shape;187;p1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0" name="Google Shape;190;p1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1" name="Google Shape;191;p1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2" name="Google Shape;192;p1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7" name="Google Shape;197;p1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8" name="Google Shape;198;p1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9" name="Google Shape;199;p1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0" name="Google Shape;200;p1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2" name="Google Shape;202;p1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3" name="Google Shape;203;p1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4" name="Google Shape;204;p1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1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1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1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1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1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1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89" name="Google Shape;289;p1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1" name="Google Shape;291;p1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6" name="Google Shape;296;p1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8" name="Google Shape;298;p1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0" name="Google Shape;300;p1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2" name="Google Shape;302;p1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3" name="Google Shape;303;p1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1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2" name="Google Shape;322;p1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3" name="Google Shape;323;p1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6" name="Google Shape;326;p1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34" name="Google Shape;334;p1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x.com/Md_Sadiq_M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Catalyst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457" name="Google Shape;457;p41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Latency aware zkSVM batcher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for solana</a:t>
            </a:r>
            <a:endParaRPr/>
          </a:p>
        </p:txBody>
      </p:sp>
      <p:sp>
        <p:nvSpPr>
          <p:cNvPr id="458" name="Google Shape;458;p41"/>
          <p:cNvSpPr txBox="1"/>
          <p:nvPr>
            <p:ph idx="2" type="title"/>
          </p:nvPr>
        </p:nvSpPr>
        <p:spPr>
          <a:xfrm>
            <a:off x="699975" y="3878925"/>
            <a:ext cx="2631300" cy="72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Sadiq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x.com/Md_Sadiq_Md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github.com/MdSadiqMd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 txBox="1"/>
          <p:nvPr/>
        </p:nvSpPr>
        <p:spPr>
          <a:xfrm>
            <a:off x="190025" y="2183775"/>
            <a:ext cx="3912600" cy="1877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can we batch Solana transactions efficiently while still “proving” correctness with minimal latency?</a:t>
            </a:r>
            <a:endParaRPr sz="2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64" name="Google Shape;4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900" y="879525"/>
            <a:ext cx="5052201" cy="37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2"/>
          <p:cNvSpPr txBox="1"/>
          <p:nvPr>
            <p:ph idx="9" type="title"/>
          </p:nvPr>
        </p:nvSpPr>
        <p:spPr>
          <a:xfrm>
            <a:off x="252425" y="10671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/>
        </p:nvSpPr>
        <p:spPr>
          <a:xfrm>
            <a:off x="190025" y="2183775"/>
            <a:ext cx="3912600" cy="52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1" name="Google Shape;471;p43"/>
          <p:cNvSpPr txBox="1"/>
          <p:nvPr>
            <p:ph idx="9" type="title"/>
          </p:nvPr>
        </p:nvSpPr>
        <p:spPr>
          <a:xfrm>
            <a:off x="51200" y="742950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Current Implementation</a:t>
            </a:r>
            <a:endParaRPr/>
          </a:p>
        </p:txBody>
      </p:sp>
      <p:pic>
        <p:nvPicPr>
          <p:cNvPr id="472" name="Google Shape;4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725" y="1177625"/>
            <a:ext cx="6182866" cy="396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4"/>
          <p:cNvSpPr txBox="1"/>
          <p:nvPr/>
        </p:nvSpPr>
        <p:spPr>
          <a:xfrm>
            <a:off x="190025" y="2183775"/>
            <a:ext cx="3912600" cy="52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8" name="Google Shape;478;p44"/>
          <p:cNvSpPr txBox="1"/>
          <p:nvPr>
            <p:ph idx="9" type="title"/>
          </p:nvPr>
        </p:nvSpPr>
        <p:spPr>
          <a:xfrm>
            <a:off x="51200" y="742950"/>
            <a:ext cx="60858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Proposed Implementation</a:t>
            </a:r>
            <a:endParaRPr/>
          </a:p>
        </p:txBody>
      </p:sp>
      <p:pic>
        <p:nvPicPr>
          <p:cNvPr id="479" name="Google Shape;4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425" y="1207275"/>
            <a:ext cx="6158726" cy="38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5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5" name="Google Shape;485;p45"/>
          <p:cNvSpPr txBox="1"/>
          <p:nvPr>
            <p:ph type="title"/>
          </p:nvPr>
        </p:nvSpPr>
        <p:spPr>
          <a:xfrm>
            <a:off x="98425" y="402750"/>
            <a:ext cx="22713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900"/>
              <a:t>Architecture</a:t>
            </a:r>
            <a:endParaRPr sz="2900"/>
          </a:p>
        </p:txBody>
      </p:sp>
      <p:sp>
        <p:nvSpPr>
          <p:cNvPr id="486" name="Google Shape;486;p45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87" name="Google Shape;4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650" y="0"/>
            <a:ext cx="58910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6"/>
          <p:cNvSpPr txBox="1"/>
          <p:nvPr>
            <p:ph idx="9" type="title"/>
          </p:nvPr>
        </p:nvSpPr>
        <p:spPr>
          <a:xfrm>
            <a:off x="51200" y="742950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Core Idea</a:t>
            </a:r>
            <a:endParaRPr/>
          </a:p>
        </p:txBody>
      </p:sp>
      <p:pic>
        <p:nvPicPr>
          <p:cNvPr id="493" name="Google Shape;4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775" y="742950"/>
            <a:ext cx="5503169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7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9" name="Google Shape;499;p47"/>
          <p:cNvSpPr/>
          <p:nvPr/>
        </p:nvSpPr>
        <p:spPr>
          <a:xfrm>
            <a:off x="4935301" y="4467685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0" name="Google Shape;500;p47"/>
          <p:cNvSpPr/>
          <p:nvPr/>
        </p:nvSpPr>
        <p:spPr>
          <a:xfrm>
            <a:off x="5139451" y="4467685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1" name="Google Shape;501;p47"/>
          <p:cNvSpPr/>
          <p:nvPr/>
        </p:nvSpPr>
        <p:spPr>
          <a:xfrm>
            <a:off x="5343600" y="4467685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2" name="Google Shape;502;p47"/>
          <p:cNvSpPr/>
          <p:nvPr/>
        </p:nvSpPr>
        <p:spPr>
          <a:xfrm>
            <a:off x="5547746" y="4702062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3" name="Google Shape;503;p47"/>
          <p:cNvSpPr/>
          <p:nvPr/>
        </p:nvSpPr>
        <p:spPr>
          <a:xfrm>
            <a:off x="5752966" y="4702062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4" name="Google Shape;504;p47"/>
          <p:cNvSpPr/>
          <p:nvPr/>
        </p:nvSpPr>
        <p:spPr>
          <a:xfrm>
            <a:off x="5956047" y="4702062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5" name="Google Shape;505;p47"/>
          <p:cNvSpPr/>
          <p:nvPr/>
        </p:nvSpPr>
        <p:spPr>
          <a:xfrm>
            <a:off x="4935301" y="470206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6" name="Google Shape;506;p47"/>
          <p:cNvSpPr/>
          <p:nvPr/>
        </p:nvSpPr>
        <p:spPr>
          <a:xfrm>
            <a:off x="5139719" y="470206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5344137" y="470206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8" name="Google Shape;508;p47"/>
          <p:cNvSpPr/>
          <p:nvPr/>
        </p:nvSpPr>
        <p:spPr>
          <a:xfrm>
            <a:off x="5547749" y="446768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9" name="Google Shape;509;p47"/>
          <p:cNvSpPr/>
          <p:nvPr/>
        </p:nvSpPr>
        <p:spPr>
          <a:xfrm>
            <a:off x="5751898" y="446768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0" name="Google Shape;510;p47"/>
          <p:cNvSpPr/>
          <p:nvPr/>
        </p:nvSpPr>
        <p:spPr>
          <a:xfrm>
            <a:off x="5956047" y="4467688"/>
            <a:ext cx="151345" cy="171307"/>
          </a:xfrm>
          <a:custGeom>
            <a:rect b="b" l="l" r="r" t="t"/>
            <a:pathLst>
              <a:path extrusionOk="0" h="209550" w="213915">
                <a:moveTo>
                  <a:pt x="125832" y="68566"/>
                </a:moveTo>
                <a:lnTo>
                  <a:pt x="125832" y="105545"/>
                </a:lnTo>
                <a:lnTo>
                  <a:pt x="88083" y="105545"/>
                </a:lnTo>
                <a:lnTo>
                  <a:pt x="88083" y="68566"/>
                </a:lnTo>
                <a:close/>
                <a:moveTo>
                  <a:pt x="47508" y="0"/>
                </a:moveTo>
                <a:lnTo>
                  <a:pt x="47508" y="23626"/>
                </a:lnTo>
                <a:lnTo>
                  <a:pt x="23882" y="23626"/>
                </a:lnTo>
                <a:lnTo>
                  <a:pt x="23882" y="46481"/>
                </a:lnTo>
                <a:lnTo>
                  <a:pt x="23112" y="46995"/>
                </a:lnTo>
                <a:lnTo>
                  <a:pt x="0" y="46995"/>
                </a:lnTo>
                <a:lnTo>
                  <a:pt x="0" y="115561"/>
                </a:lnTo>
                <a:lnTo>
                  <a:pt x="23882" y="115561"/>
                </a:lnTo>
                <a:lnTo>
                  <a:pt x="23882" y="139186"/>
                </a:lnTo>
                <a:lnTo>
                  <a:pt x="47508" y="139186"/>
                </a:lnTo>
                <a:lnTo>
                  <a:pt x="47508" y="162555"/>
                </a:lnTo>
                <a:lnTo>
                  <a:pt x="71391" y="162555"/>
                </a:lnTo>
                <a:lnTo>
                  <a:pt x="71391" y="185924"/>
                </a:lnTo>
                <a:lnTo>
                  <a:pt x="95273" y="185924"/>
                </a:lnTo>
                <a:lnTo>
                  <a:pt x="95273" y="209550"/>
                </a:lnTo>
                <a:lnTo>
                  <a:pt x="119156" y="209550"/>
                </a:lnTo>
                <a:lnTo>
                  <a:pt x="119156" y="185924"/>
                </a:lnTo>
                <a:lnTo>
                  <a:pt x="143038" y="185924"/>
                </a:lnTo>
                <a:lnTo>
                  <a:pt x="143038" y="162555"/>
                </a:lnTo>
                <a:lnTo>
                  <a:pt x="142781" y="162555"/>
                </a:lnTo>
                <a:lnTo>
                  <a:pt x="143038" y="162299"/>
                </a:lnTo>
                <a:lnTo>
                  <a:pt x="143038" y="162555"/>
                </a:lnTo>
                <a:lnTo>
                  <a:pt x="166920" y="162555"/>
                </a:lnTo>
                <a:lnTo>
                  <a:pt x="166920" y="139186"/>
                </a:lnTo>
                <a:lnTo>
                  <a:pt x="190033" y="139186"/>
                </a:lnTo>
                <a:lnTo>
                  <a:pt x="190033" y="115561"/>
                </a:lnTo>
                <a:lnTo>
                  <a:pt x="213915" y="115561"/>
                </a:lnTo>
                <a:lnTo>
                  <a:pt x="213915" y="46995"/>
                </a:lnTo>
                <a:lnTo>
                  <a:pt x="190033" y="46995"/>
                </a:lnTo>
                <a:lnTo>
                  <a:pt x="190033" y="48022"/>
                </a:lnTo>
                <a:lnTo>
                  <a:pt x="189262" y="46995"/>
                </a:lnTo>
                <a:lnTo>
                  <a:pt x="190033" y="46995"/>
                </a:lnTo>
                <a:lnTo>
                  <a:pt x="190033" y="23626"/>
                </a:lnTo>
                <a:lnTo>
                  <a:pt x="166407" y="23626"/>
                </a:lnTo>
                <a:lnTo>
                  <a:pt x="166150" y="23112"/>
                </a:lnTo>
                <a:lnTo>
                  <a:pt x="166150" y="0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